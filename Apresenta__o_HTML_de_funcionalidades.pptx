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Mesa de Análise é a tela onde os analistas trabalham a fila de propostas de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rápido: como a fila era tratada antes da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da tela: filas no topo, filtros, e a lista de propostas com ações por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produto tem sua fila, com contador de propostas em aberto. Convênios agrupa dezenas de órgãos.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fila é ordenada por tempo de espera, e a cor indica urgência: verde até 2h, amarelo até 8h, vermelho acima.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botão. O sistema escolhe a proposta mais antiga sem dono na fila ativa, abre e já registra o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alguém já está na proposta, a tela avisa quem é e há quanto tempo. Fim do retrabalho.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barra lateral mostra, em tempo real, quem está em qual fila e em qual proposta. Serve para redistribuir gente no meio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dashboard consolida, por analista, compliance validado, pendências, cancelamentos e tempo médio de atuação.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 que a mesa entrega em produtividade. Espaço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52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4775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047750" y="4095750"/>
            <a:ext cx="178117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68"/>
              </a:lnSpc>
              <a:buNone/>
            </a:pPr>
            <a:r>
              <a:rPr lang="en-US" sz="9900" b="1" spc="-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de Análise</a:t>
            </a:r>
            <a:endParaRPr lang="en-US" sz="9900" dirty="0"/>
          </a:p>
        </p:txBody>
      </p:sp>
      <p:sp>
        <p:nvSpPr>
          <p:cNvPr id="4" name="Text 2"/>
          <p:cNvSpPr/>
          <p:nvPr/>
        </p:nvSpPr>
        <p:spPr>
          <a:xfrm>
            <a:off x="1047750" y="5676900"/>
            <a:ext cx="1128236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Distribuição, priorização e controle da fila de propostas de crédito.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7750" y="9134475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em operação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fila antes da Mesa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2038350"/>
            <a:ext cx="11525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pontos que custavam tempo de análise todos os dias.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3057525"/>
            <a:ext cx="5041850" cy="38100"/>
          </a:xfrm>
          <a:prstGeom prst="rect">
            <a:avLst/>
          </a:prstGeom>
          <a:solidFill>
            <a:srgbClr val="E35205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400425"/>
            <a:ext cx="5546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ordem definida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47750" y="3962400"/>
            <a:ext cx="5193106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analista escolhia a proposta que via primeiro. Casos antigos ficavam parados.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6623000" y="3057525"/>
            <a:ext cx="5041850" cy="38100"/>
          </a:xfrm>
          <a:prstGeom prst="rect">
            <a:avLst/>
          </a:prstGeom>
          <a:solidFill>
            <a:srgbClr val="E35205"/>
          </a:solidFill>
          <a:ln/>
        </p:spPr>
      </p:sp>
      <p:sp>
        <p:nvSpPr>
          <p:cNvPr id="8" name="Text 6"/>
          <p:cNvSpPr/>
          <p:nvPr/>
        </p:nvSpPr>
        <p:spPr>
          <a:xfrm>
            <a:off x="6623000" y="3400425"/>
            <a:ext cx="5546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duplicado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23000" y="3962400"/>
            <a:ext cx="5193106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pessoas abriam a mesma proposta sem saber uma da outra.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2198251" y="3057525"/>
            <a:ext cx="5041850" cy="38100"/>
          </a:xfrm>
          <a:prstGeom prst="rect">
            <a:avLst/>
          </a:prstGeom>
          <a:solidFill>
            <a:srgbClr val="E35205"/>
          </a:solidFill>
          <a:ln/>
        </p:spPr>
      </p:sp>
      <p:sp>
        <p:nvSpPr>
          <p:cNvPr id="11" name="Text 9"/>
          <p:cNvSpPr/>
          <p:nvPr/>
        </p:nvSpPr>
        <p:spPr>
          <a:xfrm>
            <a:off x="12198251" y="3400425"/>
            <a:ext cx="5546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 visibilidade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198251" y="3962400"/>
            <a:ext cx="5193106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não enxergava carga por fila nem produção por analista.</a:t>
            </a:r>
            <a:endParaRPr lang="en-US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158133"/>
            <a:ext cx="608266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800" b="1" spc="-96" kern="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tela para toda a fila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4723805"/>
            <a:ext cx="608266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por produto no topo, filtros de data e tipo de crédito, e a lista de propostas com as ações de análise em cada linha.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047750" y="6338292"/>
            <a:ext cx="608266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entra, puxa a próxima proposta e trabalha. Nada de planilha paralela.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7715250" y="2976563"/>
            <a:ext cx="9525000" cy="4429125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381000" dist="114300" dir="5400000">
              <a:srgbClr val="1C191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24775" y="3652838"/>
            <a:ext cx="95059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8010525" y="3133725"/>
            <a:ext cx="13229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520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Presença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37055" y="3209925"/>
            <a:ext cx="162286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de Análise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6238" y="3209925"/>
            <a:ext cx="21321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Atuação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10525" y="3929063"/>
            <a:ext cx="825550" cy="419100"/>
          </a:xfrm>
          <a:prstGeom prst="roundRect">
            <a:avLst>
              <a:gd name="adj" fmla="val 22727"/>
            </a:avLst>
          </a:prstGeom>
          <a:solidFill>
            <a:srgbClr val="E35205"/>
          </a:solidFill>
          <a:ln/>
        </p:spPr>
      </p:sp>
      <p:sp>
        <p:nvSpPr>
          <p:cNvPr id="11" name="Text 9"/>
          <p:cNvSpPr/>
          <p:nvPr/>
        </p:nvSpPr>
        <p:spPr>
          <a:xfrm>
            <a:off x="8181975" y="4024313"/>
            <a:ext cx="558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FGTS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8950375" y="3929063"/>
            <a:ext cx="784473" cy="419100"/>
          </a:xfrm>
          <a:prstGeom prst="roundRect">
            <a:avLst>
              <a:gd name="adj" fmla="val 22727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31350" y="4033837"/>
            <a:ext cx="4987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849148" y="3929063"/>
            <a:ext cx="905173" cy="419100"/>
          </a:xfrm>
          <a:prstGeom prst="roundRect">
            <a:avLst>
              <a:gd name="adj" fmla="val 22727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30123" y="4033837"/>
            <a:ext cx="6194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SIAPE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0868620" y="3929063"/>
            <a:ext cx="1407616" cy="419100"/>
          </a:xfrm>
          <a:prstGeom prst="roundRect">
            <a:avLst>
              <a:gd name="adj" fmla="val 22727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49595" y="4033837"/>
            <a:ext cx="11218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Consignado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2390537" y="3929063"/>
            <a:ext cx="1287066" cy="419100"/>
          </a:xfrm>
          <a:prstGeom prst="roundRect">
            <a:avLst>
              <a:gd name="adj" fmla="val 22727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71512" y="4033837"/>
            <a:ext cx="10013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8010525" y="4557713"/>
            <a:ext cx="1752600" cy="409575"/>
          </a:xfrm>
          <a:prstGeom prst="roundRect">
            <a:avLst>
              <a:gd name="adj" fmla="val 23256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2450" y="4662488"/>
            <a:ext cx="15049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início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877425" y="4557713"/>
            <a:ext cx="1752600" cy="409575"/>
          </a:xfrm>
          <a:prstGeom prst="roundRect">
            <a:avLst>
              <a:gd name="adj" fmla="val 23256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9350" y="4662488"/>
            <a:ext cx="15049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744325" y="4557713"/>
            <a:ext cx="1451670" cy="409575"/>
          </a:xfrm>
          <a:prstGeom prst="roundRect">
            <a:avLst>
              <a:gd name="adj" fmla="val 23256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906250" y="4662488"/>
            <a:ext cx="12040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crédito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5296704" y="4557713"/>
            <a:ext cx="1648271" cy="409575"/>
          </a:xfrm>
          <a:prstGeom prst="roundRect">
            <a:avLst>
              <a:gd name="adj" fmla="val 23256"/>
            </a:avLst>
          </a:prstGeom>
          <a:solidFill>
            <a:srgbClr val="1C1917"/>
          </a:solidFill>
          <a:ln/>
        </p:spPr>
      </p:sp>
      <p:sp>
        <p:nvSpPr>
          <p:cNvPr id="27" name="Text 25"/>
          <p:cNvSpPr/>
          <p:nvPr/>
        </p:nvSpPr>
        <p:spPr>
          <a:xfrm>
            <a:off x="15487204" y="4652963"/>
            <a:ext cx="13434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Puxar Proposta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10525" y="5176838"/>
            <a:ext cx="8934450" cy="1952625"/>
          </a:xfrm>
          <a:prstGeom prst="roundRect">
            <a:avLst>
              <a:gd name="adj" fmla="val 6829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20050" y="5824538"/>
            <a:ext cx="8915400" cy="952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8248650" y="544830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8534400" y="5395913"/>
            <a:ext cx="71199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#48213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41644" y="5395913"/>
            <a:ext cx="5842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922228" y="5400675"/>
            <a:ext cx="8608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9h 20min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8020050" y="6472238"/>
            <a:ext cx="8915400" cy="952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35" name="Shape 33"/>
          <p:cNvSpPr/>
          <p:nvPr/>
        </p:nvSpPr>
        <p:spPr>
          <a:xfrm>
            <a:off x="8248650" y="6096000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8534400" y="6043613"/>
            <a:ext cx="71199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#48197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341644" y="6043613"/>
            <a:ext cx="5208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922228" y="6048375"/>
            <a:ext cx="8608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05min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8248650" y="6743700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8534400" y="6691313"/>
            <a:ext cx="71199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#48244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341644" y="6691313"/>
            <a:ext cx="6374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6133415" y="6696075"/>
            <a:ext cx="6496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por produto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2038350"/>
            <a:ext cx="1128236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modalidade tem sua própria fila, com o total de propostas em aberto visível o tempo todo.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3371850"/>
            <a:ext cx="3040261" cy="1543050"/>
          </a:xfrm>
          <a:prstGeom prst="roundRect">
            <a:avLst>
              <a:gd name="adj" fmla="val 11111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3025" y="3743325"/>
            <a:ext cx="26946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FGTS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43025" y="4248150"/>
            <a:ext cx="26946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própria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335661" y="3371850"/>
            <a:ext cx="3040410" cy="1543050"/>
          </a:xfrm>
          <a:prstGeom prst="roundRect">
            <a:avLst>
              <a:gd name="adj" fmla="val 11111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0936" y="3743325"/>
            <a:ext cx="26948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630936" y="4248150"/>
            <a:ext cx="2694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própria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23721" y="3371850"/>
            <a:ext cx="3040410" cy="1543050"/>
          </a:xfrm>
          <a:prstGeom prst="roundRect">
            <a:avLst>
              <a:gd name="adj" fmla="val 11111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18996" y="3743325"/>
            <a:ext cx="26948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918996" y="4248150"/>
            <a:ext cx="2694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própria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911780" y="3371850"/>
            <a:ext cx="3040410" cy="1543050"/>
          </a:xfrm>
          <a:prstGeom prst="roundRect">
            <a:avLst>
              <a:gd name="adj" fmla="val 11111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07055" y="3743325"/>
            <a:ext cx="26948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Consignado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207055" y="4248150"/>
            <a:ext cx="2694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4199840" y="3371850"/>
            <a:ext cx="3040410" cy="154305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9525">
            <a:solidFill>
              <a:srgbClr val="E352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95115" y="3743325"/>
            <a:ext cx="26948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4495115" y="4248150"/>
            <a:ext cx="2694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Dezenas de órgãos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7750" y="5486400"/>
            <a:ext cx="6705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ao vivo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47750" y="5924550"/>
            <a:ext cx="627888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de propostas de cada fila é consultado direto na API, sem intervenção manual.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810500" y="5486400"/>
            <a:ext cx="6705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em todas as filas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810500" y="5924550"/>
            <a:ext cx="627888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clique varre todas as modalidades; a busca por ID localiza qualquer proposta.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158133"/>
            <a:ext cx="6278880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800" b="1" spc="-96" kern="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por tempo de espera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4723805"/>
            <a:ext cx="627888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proposta mostra há quanto tempo aguarda análise, contada a partir do último status registrado.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047750" y="6338292"/>
            <a:ext cx="627888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 sinaliza a urgência sem precisar ler número nenhum.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8001000" y="2857500"/>
            <a:ext cx="92392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0" y="4067175"/>
            <a:ext cx="92392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2857500"/>
            <a:ext cx="92392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2857500"/>
            <a:ext cx="95250" cy="1219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17230725" y="2857500"/>
            <a:ext cx="9525" cy="12192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Text 8"/>
          <p:cNvSpPr/>
          <p:nvPr/>
        </p:nvSpPr>
        <p:spPr>
          <a:xfrm>
            <a:off x="8477250" y="3209925"/>
            <a:ext cx="19907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2h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572750" y="3305175"/>
            <a:ext cx="22541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prazo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001000" y="4324350"/>
            <a:ext cx="92392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0" y="5534025"/>
            <a:ext cx="92392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4324350"/>
            <a:ext cx="92392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4324350"/>
            <a:ext cx="95250" cy="1219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17230725" y="4324350"/>
            <a:ext cx="9525" cy="12192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7" name="Text 15"/>
          <p:cNvSpPr/>
          <p:nvPr/>
        </p:nvSpPr>
        <p:spPr>
          <a:xfrm>
            <a:off x="8477250" y="4676775"/>
            <a:ext cx="19907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a 8h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0572750" y="4772025"/>
            <a:ext cx="11248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8001000" y="5791200"/>
            <a:ext cx="92392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7515225"/>
            <a:ext cx="92392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0" y="5791200"/>
            <a:ext cx="92392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0" y="5791200"/>
            <a:ext cx="95250" cy="17335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7230725" y="5791200"/>
            <a:ext cx="9525" cy="17335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4" name="Text 22"/>
          <p:cNvSpPr/>
          <p:nvPr/>
        </p:nvSpPr>
        <p:spPr>
          <a:xfrm>
            <a:off x="8477250" y="6143625"/>
            <a:ext cx="188595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8h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10572750" y="6496050"/>
            <a:ext cx="9018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Puxar próxima proposta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2038350"/>
            <a:ext cx="13096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não escolhe o caso. Um clique entrega a próxima proposta da fila ativa.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3114675"/>
            <a:ext cx="5143500" cy="3266777"/>
          </a:xfrm>
          <a:prstGeom prst="roundRect">
            <a:avLst>
              <a:gd name="adj" fmla="val 5831"/>
            </a:avLst>
          </a:prstGeom>
          <a:solidFill>
            <a:srgbClr val="FAFAF9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552825"/>
            <a:ext cx="4819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28750" y="4162425"/>
            <a:ext cx="48196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automática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28750" y="4783336"/>
            <a:ext cx="451294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busca a proposta com maior tempo de espera que ainda não tem responsável.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72250" y="3114675"/>
            <a:ext cx="5143500" cy="3266777"/>
          </a:xfrm>
          <a:prstGeom prst="roundRect">
            <a:avLst>
              <a:gd name="adj" fmla="val 5831"/>
            </a:avLst>
          </a:prstGeom>
          <a:solidFill>
            <a:srgbClr val="FAFAF9"/>
          </a:solidFill>
          <a:ln/>
        </p:spPr>
      </p:sp>
      <p:sp>
        <p:nvSpPr>
          <p:cNvPr id="9" name="Text 7"/>
          <p:cNvSpPr/>
          <p:nvPr/>
        </p:nvSpPr>
        <p:spPr>
          <a:xfrm>
            <a:off x="6953250" y="3552825"/>
            <a:ext cx="4819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53250" y="4162425"/>
            <a:ext cx="48196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imediata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953250" y="4783336"/>
            <a:ext cx="451294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página de detalhe da proposta abre em outra aba, pronta para análise.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96750" y="3114675"/>
            <a:ext cx="5143500" cy="3266777"/>
          </a:xfrm>
          <a:prstGeom prst="roundRect">
            <a:avLst>
              <a:gd name="adj" fmla="val 5831"/>
            </a:avLst>
          </a:prstGeom>
          <a:solidFill>
            <a:srgbClr val="FAFAF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77750" y="3552825"/>
            <a:ext cx="4819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477750" y="4162425"/>
            <a:ext cx="48196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do responsável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77750" y="4783336"/>
            <a:ext cx="451294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passa a constar como sua para todo o time, no mesmo instante.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" y="7048202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terminar, o botão “Sair da Fila” libera a marcação — nenhuma proposta fica presa a quem não está mais nela.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158133"/>
            <a:ext cx="647509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proposta, um analista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4723805"/>
            <a:ext cx="647509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proposta aberta fica marcada com o nome de quem está analisando e o horário em que entrou.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047750" y="6338292"/>
            <a:ext cx="64750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outra pessoa tentar abrir, a tela avisa antes de qualquer trabalho ser refeito.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8191500" y="3381375"/>
            <a:ext cx="9048750" cy="361950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05850" y="3914775"/>
            <a:ext cx="882205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em análise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8705850" y="4657725"/>
            <a:ext cx="826065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</a:t>
            </a:r>
            <a:pPr algn="l" indent="0" marL="0">
              <a:lnSpc>
                <a:spcPct val="132353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#48213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está sendo analisada por </a:t>
            </a:r>
            <a:pPr algn="l" indent="0" marL="0">
              <a:lnSpc>
                <a:spcPct val="132353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Camila Duarte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12 minutos.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705850" y="5876925"/>
            <a:ext cx="1409700" cy="590550"/>
          </a:xfrm>
          <a:prstGeom prst="roundRect">
            <a:avLst>
              <a:gd name="adj" fmla="val 19355"/>
            </a:avLst>
          </a:prstGeom>
          <a:solidFill>
            <a:srgbClr val="E35205"/>
          </a:solidFill>
          <a:ln/>
        </p:spPr>
      </p:sp>
      <p:sp>
        <p:nvSpPr>
          <p:cNvPr id="9" name="Text 7"/>
          <p:cNvSpPr/>
          <p:nvPr/>
        </p:nvSpPr>
        <p:spPr>
          <a:xfrm>
            <a:off x="8991600" y="6029325"/>
            <a:ext cx="9144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267950" y="5876925"/>
            <a:ext cx="2522190" cy="590550"/>
          </a:xfrm>
          <a:prstGeom prst="roundRect">
            <a:avLst>
              <a:gd name="adj" fmla="val 19355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63225" y="6038850"/>
            <a:ext cx="20078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mesmo assim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379589"/>
            <a:ext cx="647509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800" b="1" spc="-96" kern="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por fila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4945261"/>
            <a:ext cx="64750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vê, a qualquer momento, quem está em qual fila e em qual proposta.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047750" y="6116836"/>
            <a:ext cx="64750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para remanejar analistas no meio do dia, quando uma fila acumula.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8191500" y="3038475"/>
            <a:ext cx="5924550" cy="43053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  <a:effectLst>
            <a:outerShdw sx="100000" sy="100000" kx="0" ky="0" algn="bl" rotWithShape="0" blurRad="381000" dist="114300" dir="5400000">
              <a:srgbClr val="1C191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01025" y="3048000"/>
            <a:ext cx="5905500" cy="828675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7" name="Text 5"/>
          <p:cNvSpPr/>
          <p:nvPr/>
        </p:nvSpPr>
        <p:spPr>
          <a:xfrm>
            <a:off x="8524875" y="3314700"/>
            <a:ext cx="5434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por Fila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524875" y="4762500"/>
            <a:ext cx="5257800" cy="952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9" name="Text 7"/>
          <p:cNvSpPr/>
          <p:nvPr/>
        </p:nvSpPr>
        <p:spPr>
          <a:xfrm>
            <a:off x="8524875" y="4238625"/>
            <a:ext cx="19024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Camila Duarte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207032" y="4252913"/>
            <a:ext cx="1733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FGTS · #48213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24875" y="5524500"/>
            <a:ext cx="5257800" cy="952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2" name="Text 10"/>
          <p:cNvSpPr/>
          <p:nvPr/>
        </p:nvSpPr>
        <p:spPr>
          <a:xfrm>
            <a:off x="8524875" y="5000625"/>
            <a:ext cx="17923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Nunes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283083" y="5014913"/>
            <a:ext cx="16495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INSS · #48197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24875" y="6286500"/>
            <a:ext cx="5257800" cy="952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5" name="Text 13"/>
          <p:cNvSpPr/>
          <p:nvPr/>
        </p:nvSpPr>
        <p:spPr>
          <a:xfrm>
            <a:off x="8524875" y="5762625"/>
            <a:ext cx="16822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Beatriz Lima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1736437" y="5776913"/>
            <a:ext cx="22508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 · #48088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24875" y="6524625"/>
            <a:ext cx="16089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Alves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143184" y="6538913"/>
            <a:ext cx="18034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SIAPE · #48244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atuação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2038350"/>
            <a:ext cx="130968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por analista, consolidada a partir do que foi de fato concluído na mesa.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3000375"/>
            <a:ext cx="3862387" cy="1485900"/>
          </a:xfrm>
          <a:prstGeom prst="roundRect">
            <a:avLst>
              <a:gd name="adj" fmla="val 11538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2075" y="3352800"/>
            <a:ext cx="3557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validado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62075" y="3762375"/>
            <a:ext cx="3557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analista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157788" y="3000375"/>
            <a:ext cx="3862387" cy="1485900"/>
          </a:xfrm>
          <a:prstGeom prst="roundRect">
            <a:avLst>
              <a:gd name="adj" fmla="val 11538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72113" y="3352800"/>
            <a:ext cx="3557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72113" y="3762375"/>
            <a:ext cx="3557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motivo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67825" y="3000375"/>
            <a:ext cx="3862387" cy="1485900"/>
          </a:xfrm>
          <a:prstGeom prst="roundRect">
            <a:avLst>
              <a:gd name="adj" fmla="val 11538"/>
            </a:avLst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82150" y="3352800"/>
            <a:ext cx="3557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Cancelamentos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82150" y="3762375"/>
            <a:ext cx="3557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motivo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377863" y="3000375"/>
            <a:ext cx="3862387" cy="1485900"/>
          </a:xfrm>
          <a:prstGeom prst="roundRect">
            <a:avLst>
              <a:gd name="adj" fmla="val 11538"/>
            </a:avLst>
          </a:prstGeom>
          <a:solidFill>
            <a:srgbClr val="FFF7ED"/>
          </a:solidFill>
          <a:ln w="9525">
            <a:solidFill>
              <a:srgbClr val="E352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92188" y="3352800"/>
            <a:ext cx="3557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692188" y="3762375"/>
            <a:ext cx="3557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atuação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04900" y="4876800"/>
            <a:ext cx="2876550" cy="1905000"/>
          </a:xfrm>
          <a:custGeom>
            <a:avLst/>
            <a:gdLst/>
            <a:ahLst/>
            <a:cxnLst/>
            <a:rect l="l" t="t" r="r" b="b"/>
            <a:pathLst>
              <a:path w="2876550" h="1905000">
                <a:moveTo>
                  <a:pt x="95250" y="0"/>
                </a:moveTo>
                <a:lnTo>
                  <a:pt x="2781300" y="0"/>
                </a:lnTo>
                <a:arcTo hR="95250" wR="95250" stAng="16200000" swAng="5400000"/>
                <a:lnTo>
                  <a:pt x="2876550" y="1905000"/>
                </a:lnTo>
                <a:lnTo>
                  <a:pt x="0" y="1905000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E35205"/>
          </a:solidFill>
          <a:ln/>
        </p:spPr>
      </p:sp>
      <p:sp>
        <p:nvSpPr>
          <p:cNvPr id="17" name="Text 15"/>
          <p:cNvSpPr/>
          <p:nvPr/>
        </p:nvSpPr>
        <p:spPr>
          <a:xfrm>
            <a:off x="2157710" y="6953250"/>
            <a:ext cx="8469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419600" y="5276850"/>
            <a:ext cx="2876550" cy="1504950"/>
          </a:xfrm>
          <a:custGeom>
            <a:avLst/>
            <a:gdLst/>
            <a:ahLst/>
            <a:cxnLst/>
            <a:rect l="l" t="t" r="r" b="b"/>
            <a:pathLst>
              <a:path w="2876550" h="1504950">
                <a:moveTo>
                  <a:pt x="95250" y="0"/>
                </a:moveTo>
                <a:lnTo>
                  <a:pt x="2781300" y="0"/>
                </a:lnTo>
                <a:arcTo hR="95250" wR="95250" stAng="16200000" swAng="5400000"/>
                <a:lnTo>
                  <a:pt x="2876550" y="1504950"/>
                </a:lnTo>
                <a:lnTo>
                  <a:pt x="0" y="1504950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499943" y="6953250"/>
            <a:ext cx="7920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734300" y="5524500"/>
            <a:ext cx="2876550" cy="1257300"/>
          </a:xfrm>
          <a:custGeom>
            <a:avLst/>
            <a:gdLst/>
            <a:ahLst/>
            <a:cxnLst/>
            <a:rect l="l" t="t" r="r" b="b"/>
            <a:pathLst>
              <a:path w="2876550" h="1257300">
                <a:moveTo>
                  <a:pt x="95250" y="0"/>
                </a:moveTo>
                <a:lnTo>
                  <a:pt x="2781300" y="0"/>
                </a:lnTo>
                <a:arcTo hR="95250" wR="95250" stAng="16200000" swAng="5400000"/>
                <a:lnTo>
                  <a:pt x="2876550" y="1257300"/>
                </a:lnTo>
                <a:lnTo>
                  <a:pt x="0" y="1257300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8787110" y="6953250"/>
            <a:ext cx="8469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Beatriz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049000" y="5867400"/>
            <a:ext cx="2876550" cy="914400"/>
          </a:xfrm>
          <a:custGeom>
            <a:avLst/>
            <a:gdLst/>
            <a:ahLst/>
            <a:cxnLst/>
            <a:rect l="l" t="t" r="r" b="b"/>
            <a:pathLst>
              <a:path w="2876550" h="914400">
                <a:moveTo>
                  <a:pt x="95250" y="0"/>
                </a:moveTo>
                <a:lnTo>
                  <a:pt x="2781300" y="0"/>
                </a:lnTo>
                <a:arcTo hR="95250" wR="95250" stAng="16200000" swAng="5400000"/>
                <a:lnTo>
                  <a:pt x="2876550" y="914400"/>
                </a:lnTo>
                <a:lnTo>
                  <a:pt x="0" y="914400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FDBA74"/>
          </a:solidFill>
          <a:ln/>
        </p:spPr>
      </p:sp>
      <p:sp>
        <p:nvSpPr>
          <p:cNvPr id="23" name="Text 21"/>
          <p:cNvSpPr/>
          <p:nvPr/>
        </p:nvSpPr>
        <p:spPr>
          <a:xfrm>
            <a:off x="12163723" y="6953250"/>
            <a:ext cx="7233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4363700" y="6096000"/>
            <a:ext cx="2876550" cy="685800"/>
          </a:xfrm>
          <a:custGeom>
            <a:avLst/>
            <a:gdLst/>
            <a:ahLst/>
            <a:cxnLst/>
            <a:rect l="l" t="t" r="r" b="b"/>
            <a:pathLst>
              <a:path w="2876550" h="685800">
                <a:moveTo>
                  <a:pt x="95250" y="0"/>
                </a:moveTo>
                <a:lnTo>
                  <a:pt x="2781300" y="0"/>
                </a:lnTo>
                <a:arcTo hR="95250" wR="95250" stAng="16200000" swAng="5400000"/>
                <a:lnTo>
                  <a:pt x="2876550" y="685800"/>
                </a:lnTo>
                <a:lnTo>
                  <a:pt x="0" y="685800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FED7AA"/>
          </a:solidFill>
          <a:ln/>
        </p:spPr>
      </p:sp>
      <p:sp>
        <p:nvSpPr>
          <p:cNvPr id="25" name="Text 23"/>
          <p:cNvSpPr/>
          <p:nvPr/>
        </p:nvSpPr>
        <p:spPr>
          <a:xfrm>
            <a:off x="15423356" y="6953250"/>
            <a:ext cx="8332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7750" y="7496175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ilustrativo — os dados reais vêm da base de atuações.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52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na operação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50" y="2038350"/>
            <a:ext cx="1257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efeitos diretos no dia a dia da mesa.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3114675"/>
            <a:ext cx="7715250" cy="2857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429000"/>
            <a:ext cx="84867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tempo escolhendo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50" y="3971925"/>
            <a:ext cx="848677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recebe o próximo caso em vez de garimpar a lista.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525000" y="3114675"/>
            <a:ext cx="7715250" cy="2857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3429000"/>
            <a:ext cx="84867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caso duplicado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0" y="3971925"/>
            <a:ext cx="794670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marcação em tempo real elimina duas análises da mesma proposta.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047750" y="5268218"/>
            <a:ext cx="7715250" cy="2857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582543"/>
            <a:ext cx="84867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sob controle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47750" y="6125468"/>
            <a:ext cx="794670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antigas saem primeiro, com a urgência sinalizada na tela.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525000" y="5268218"/>
            <a:ext cx="7715250" cy="2857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5582543"/>
            <a:ext cx="84867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com números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0" y="6125468"/>
            <a:ext cx="848677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e tempo médio por analista, sem apuração manual.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2026-08-11T14:44:41Z</dcterms:created>
  <dcterms:modified xsi:type="dcterms:W3CDTF">2026-08-11T14:44:41Z</dcterms:modified>
</cp:coreProperties>
</file>